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97" r:id="rId3"/>
    <p:sldId id="267" r:id="rId4"/>
    <p:sldId id="268" r:id="rId5"/>
    <p:sldId id="271" r:id="rId6"/>
    <p:sldId id="299" r:id="rId7"/>
    <p:sldId id="269" r:id="rId8"/>
    <p:sldId id="295" r:id="rId9"/>
    <p:sldId id="300" r:id="rId10"/>
    <p:sldId id="276" r:id="rId11"/>
    <p:sldId id="282" r:id="rId12"/>
    <p:sldId id="288" r:id="rId13"/>
    <p:sldId id="291" r:id="rId14"/>
    <p:sldId id="296" r:id="rId15"/>
    <p:sldId id="298" r:id="rId16"/>
    <p:sldId id="265" r:id="rId17"/>
  </p:sldIdLst>
  <p:sldSz cx="12192000" cy="6858000"/>
  <p:notesSz cx="6858000" cy="9144000"/>
  <p:embeddedFontLst>
    <p:embeddedFont>
      <p:font typeface="Libre Franklin Black" pitchFamily="2" charset="0"/>
      <p:bold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231473-6FBB-4DB9-A9DE-745D80D6D2A9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Style>
        <a:tcBdr/>
        <a:fill>
          <a:solidFill>
            <a:srgbClr val="CDD4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DD4EA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2923" autoAdjust="0"/>
  </p:normalViewPr>
  <p:slideViewPr>
    <p:cSldViewPr snapToGrid="0" showGuides="1">
      <p:cViewPr varScale="1">
        <p:scale>
          <a:sx n="88" d="100"/>
          <a:sy n="88" d="100"/>
        </p:scale>
        <p:origin x="485" y="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971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39814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8" name="Google Shape;18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67608" y="592088"/>
            <a:ext cx="7609140" cy="1008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>
            <a:spLocks noGrp="1"/>
          </p:cNvSpPr>
          <p:nvPr>
            <p:ph type="body" idx="1"/>
          </p:nvPr>
        </p:nvSpPr>
        <p:spPr>
          <a:xfrm>
            <a:off x="869085" y="1561876"/>
            <a:ext cx="10515600" cy="4531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dt" idx="10"/>
          </p:nvPr>
        </p:nvSpPr>
        <p:spPr>
          <a:xfrm>
            <a:off x="695400" y="6278770"/>
            <a:ext cx="16561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ftr" idx="11"/>
          </p:nvPr>
        </p:nvSpPr>
        <p:spPr>
          <a:xfrm>
            <a:off x="2567608" y="6278771"/>
            <a:ext cx="69127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" name="Google Shape;23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4"/>
          <p:cNvSpPr txBox="1">
            <a:spLocks noGrp="1"/>
          </p:cNvSpPr>
          <p:nvPr>
            <p:ph type="dt" idx="10"/>
          </p:nvPr>
        </p:nvSpPr>
        <p:spPr>
          <a:xfrm>
            <a:off x="695400" y="6278770"/>
            <a:ext cx="16561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ftr" idx="11"/>
          </p:nvPr>
        </p:nvSpPr>
        <p:spPr>
          <a:xfrm>
            <a:off x="2567608" y="6278771"/>
            <a:ext cx="69127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sldNum" idx="12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"/>
          <p:cNvSpPr txBox="1"/>
          <p:nvPr/>
        </p:nvSpPr>
        <p:spPr>
          <a:xfrm>
            <a:off x="1055440" y="1700808"/>
            <a:ext cx="10696612" cy="194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>
              <a:solidFill>
                <a:srgbClr val="00B05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3474721" y="538481"/>
            <a:ext cx="5182492" cy="1466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</p:txBody>
      </p:sp>
      <p:sp>
        <p:nvSpPr>
          <p:cNvPr id="37" name="Google Shape;37;p1"/>
          <p:cNvSpPr/>
          <p:nvPr/>
        </p:nvSpPr>
        <p:spPr>
          <a:xfrm>
            <a:off x="565971" y="3453831"/>
            <a:ext cx="4965496" cy="2631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 panose="020B0604020202020204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25B21AI054    - A. Pavani - AIML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900" dirty="0">
                <a:latin typeface="Times New Roman" panose="02020603050405020304" pitchFamily="18" charset="0"/>
                <a:ea typeface="Glegoo"/>
                <a:cs typeface="Times New Roman" panose="02020603050405020304" pitchFamily="18" charset="0"/>
                <a:sym typeface="Glegoo"/>
              </a:rPr>
              <a:t>25B21AI066   -  P. Satya    - AIML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Clr>
                <a:schemeClr val="dk1"/>
              </a:buClr>
              <a:buSzPts val="1800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171450">
              <a:lnSpc>
                <a:spcPct val="150000"/>
              </a:lnSpc>
              <a:buClr>
                <a:schemeClr val="dk1"/>
              </a:buClr>
              <a:buSzPts val="1800"/>
            </a:pPr>
            <a:endParaRPr lang="en-US" sz="1600" dirty="0">
              <a:solidFill>
                <a:schemeClr val="dk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111257" y="2153768"/>
            <a:ext cx="9909420" cy="699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/>
            <a:r>
              <a:rPr lang="en-US" sz="3200" b="1" dirty="0"/>
              <a:t>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Quality Analysis Through Student Feedback</a:t>
            </a:r>
            <a:endParaRPr lang="en-US" sz="3000" b="1" i="0" u="none" strike="noStrike" cap="none" dirty="0">
              <a:solidFill>
                <a:srgbClr val="00B05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3633735" y="5103714"/>
            <a:ext cx="3795464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Under esteemed guidance of: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Mrs. Pravallika</a:t>
            </a:r>
          </a:p>
          <a:p>
            <a:pPr algn="ctr"/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Assistant Professor (AIML) </a:t>
            </a:r>
          </a:p>
          <a:p>
            <a:pPr lvl="0"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3048719" y="3084499"/>
            <a:ext cx="6094562" cy="126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55A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BATCH NUMBER: 14</a:t>
            </a:r>
          </a:p>
          <a:p>
            <a:pPr algn="ctr"/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Presented by: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6403746" y="3849817"/>
            <a:ext cx="6094562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25B21AI061    - B. P. Pavani Ganga -  AIML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25B31AI001    - M. S. U. Chandrika   - AIML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56008" y="925191"/>
            <a:ext cx="10774017" cy="5154117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 </a:t>
            </a:r>
          </a:p>
          <a:p>
            <a:pPr marL="571500" indent="-457200">
              <a:buFont typeface="+mj-lt"/>
              <a:buAutoNum type="arabicPeriod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</a:t>
            </a:r>
          </a:p>
          <a:p>
            <a:pPr marL="571500" indent="-457200">
              <a:buFont typeface="+mj-lt"/>
              <a:buAutoNum type="arabicPeriod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pPr marL="571500" indent="-457200">
              <a:buFont typeface="+mj-lt"/>
              <a:buAutoNum type="arabicPeriod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571500" indent="-457200">
              <a:buFont typeface="+mj-lt"/>
              <a:buAutoNum type="arabicPeriod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</a:p>
          <a:p>
            <a:pPr marL="571500" indent="-457200">
              <a:buFont typeface="+mj-lt"/>
              <a:buAutoNum type="arabicPeriod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marL="571500" indent="-457200">
              <a:buFont typeface="+mj-lt"/>
              <a:buAutoNum type="arabicPeriod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  <a:p>
            <a:pPr marL="571500" indent="-457200">
              <a:buFont typeface="+mj-lt"/>
              <a:buAutoNum type="arabicPeriod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requirements </a:t>
            </a:r>
          </a:p>
          <a:p>
            <a:pPr marL="571500" indent="-457200">
              <a:buFont typeface="+mj-lt"/>
              <a:buAutoNum type="arabicPeriod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pPr marL="571500" indent="-457200">
              <a:buFont typeface="+mj-lt"/>
              <a:buAutoNum type="arabicPeriod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70685" y="709818"/>
            <a:ext cx="10515600" cy="5438364"/>
          </a:xfrm>
        </p:spPr>
        <p:txBody>
          <a:bodyPr>
            <a:normAutofit/>
          </a:bodyPr>
          <a:lstStyle/>
          <a:p>
            <a:pPr marL="114300" indent="0" algn="ctr">
              <a:lnSpc>
                <a:spcPct val="17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7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collect large amounts of student feedback to evaluate teaching quality, course effectiveness, and overall learning experience. This feedback is typically collected through rating-based questionnaires and surveys. However, the analysis of this data is often done manually or through simple averaging techniques.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presents several challenges: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time-consuming.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 not reveal hidden patterns or relationships.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cannot efficiently handle large datasets.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automated, data-driven approach that can systematically analyze student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using data mining techniques.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833259"/>
            <a:ext cx="10515600" cy="5702910"/>
          </a:xfrm>
        </p:spPr>
        <p:txBody>
          <a:bodyPr>
            <a:normAutofit/>
          </a:bodyPr>
          <a:lstStyle/>
          <a:p>
            <a:pPr marL="114300" indent="0" algn="ctr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of analyzing student feedback rely on manual evaluation or simple statistical techniques. These approaches are time-consuming, subjective, and inefficient when handling large volumes of survey data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problem is to design and implement a data mining system that can: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large-scale student feedback data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and clean the data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significant attributes affecting student satisfaction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students into satisfaction levels (Highly Satisfied, Satisfied, Dissatisfied)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meaningful visualizations for interpretation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ensuring: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classification accuracy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processing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and practical usability for academic decision-making</a:t>
            </a:r>
          </a:p>
          <a:p>
            <a:pPr marL="114300" indent="0" algn="just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5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510060" y="531099"/>
            <a:ext cx="4085300" cy="56618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763775"/>
              </p:ext>
            </p:extLst>
          </p:nvPr>
        </p:nvGraphicFramePr>
        <p:xfrm>
          <a:off x="1172816" y="1202636"/>
          <a:ext cx="9968949" cy="5314587"/>
        </p:xfrm>
        <a:graphic>
          <a:graphicData uri="http://schemas.openxmlformats.org/drawingml/2006/table">
            <a:tbl>
              <a:tblPr firstRow="1" bandRow="1">
                <a:tableStyleId>{7D231473-6FBB-4DB9-A9DE-745D80D6D2A9}</a:tableStyleId>
              </a:tblPr>
              <a:tblGrid>
                <a:gridCol w="3185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1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2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3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Paper Title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Journal Details &amp; Authors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Methodology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Limitations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Machine Learning for Student Satisfaction Prediction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IJERT, 2021 – Singh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Uses classification algorithms to predict student satisfaction based on feedback data and academic factors.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Accuracy depends on dataset size and quality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6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student Feedback Analysis using Data Mining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IEEE, 2021 – Kumar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Uses Decision Tree, Naïve Bayes, and Random Forest to analyze student feedback and predict satisfaction levels.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Depends on quality of collected feedback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1068839"/>
                  </a:ext>
                </a:extLst>
              </a:tr>
              <a:tr h="926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Educational Data Mining for Quality Analysis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Springer, 2020 – Sharma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Applies data mining techniques to extract patterns and evaluate teaching effectiveness from student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Limited handling of unstructured feedback.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2560"/>
                  </a:ext>
                </a:extLst>
              </a:tr>
              <a:tr h="717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Impact of Data Preprocessing in Student Analysis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IJCA, 2019 – Reddy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Focuses on preprocessing steps like handling missing values and transforming categorical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Improper preprocessing affects accuracy.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873853"/>
                  </a:ext>
                </a:extLst>
              </a:tr>
              <a:tr h="926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Visualization Techniques for Feedback Analysis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IEEE, 2022 – Patel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tools like Matplotlib and Seaborn to present feedback results through graphs and charts.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Visualization depends on correct data interpretation.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03035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6AF948-184A-1DC8-0118-B88CAD4AD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18036"/>
            <a:ext cx="10515600" cy="4531419"/>
          </a:xfrm>
        </p:spPr>
        <p:txBody>
          <a:bodyPr>
            <a:normAutofit fontScale="62500" lnSpcReduction="20000"/>
          </a:bodyPr>
          <a:lstStyle/>
          <a:p>
            <a:pPr marL="114300" indent="0">
              <a:lnSpc>
                <a:spcPct val="12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Name: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Feedback Dataset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1024 rows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Attributes: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</a:t>
            </a:r>
          </a:p>
          <a:p>
            <a:pPr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</a:t>
            </a:r>
          </a:p>
          <a:p>
            <a:pPr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</a:p>
          <a:p>
            <a:pPr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</a:p>
          <a:p>
            <a:pPr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Q1_Teaching effectiveness</a:t>
            </a:r>
          </a:p>
          <a:p>
            <a:pPr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Q2_Content Quality</a:t>
            </a:r>
          </a:p>
          <a:p>
            <a:pPr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Q3_Classroom interaction</a:t>
            </a:r>
          </a:p>
          <a:p>
            <a:pPr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Q4_Resource used</a:t>
            </a:r>
          </a:p>
          <a:p>
            <a:pPr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Q5_Overall Experience</a:t>
            </a: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CDBDB-6615-A975-5B56-8DC802711CA7}"/>
              </a:ext>
            </a:extLst>
          </p:cNvPr>
          <p:cNvSpPr txBox="1"/>
          <p:nvPr/>
        </p:nvSpPr>
        <p:spPr>
          <a:xfrm>
            <a:off x="3709358" y="741872"/>
            <a:ext cx="4666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</a:p>
        </p:txBody>
      </p:sp>
    </p:spTree>
    <p:extLst>
      <p:ext uri="{BB962C8B-B14F-4D97-AF65-F5344CB8AC3E}">
        <p14:creationId xmlns:p14="http://schemas.microsoft.com/office/powerpoint/2010/main" val="3988028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33400" y="910184"/>
            <a:ext cx="11070772" cy="5675673"/>
          </a:xfrm>
        </p:spPr>
        <p:txBody>
          <a:bodyPr>
            <a:normAutofit/>
          </a:bodyPr>
          <a:lstStyle/>
          <a:p>
            <a:pPr marL="114300" indent="0" algn="ctr">
              <a:lnSpc>
                <a:spcPct val="160000"/>
              </a:lnSpc>
              <a:buNone/>
            </a:pPr>
            <a:r>
              <a:rPr lang="en-IN" sz="24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50000"/>
              </a:lnSpc>
              <a:buNone/>
            </a:pPr>
            <a:r>
              <a:rPr lang="en-US" sz="1800" dirty="0"/>
              <a:t>The main objectives of this project are:</a:t>
            </a:r>
          </a:p>
          <a:p>
            <a:r>
              <a:rPr lang="en-US" sz="1800" dirty="0"/>
              <a:t>To collect and preprocess student feedback data.</a:t>
            </a:r>
          </a:p>
          <a:p>
            <a:r>
              <a:rPr lang="en-US" sz="1800" dirty="0"/>
              <a:t>To clean and transform the dataset using Python libraries such as Pandas and NumPy.</a:t>
            </a:r>
          </a:p>
          <a:p>
            <a:r>
              <a:rPr lang="en-US" sz="1800" dirty="0"/>
              <a:t>To apply feature engineering techniques to identify important attributes influencing satisfaction.</a:t>
            </a:r>
          </a:p>
          <a:p>
            <a:r>
              <a:rPr lang="en-US" sz="1800" dirty="0"/>
              <a:t>To implement classification algorithms to categorize students into satisfaction levels.</a:t>
            </a:r>
          </a:p>
          <a:p>
            <a:r>
              <a:rPr lang="en-US" sz="1800" dirty="0"/>
              <a:t>To visualize trends and patterns using Matplotlib.</a:t>
            </a:r>
          </a:p>
          <a:p>
            <a:r>
              <a:rPr lang="en-US" sz="1800" dirty="0"/>
              <a:t>To provide actionable insights to improve teaching effectiveness and academic quality.</a:t>
            </a:r>
          </a:p>
          <a:p>
            <a:pPr marL="114300" indent="0">
              <a:lnSpc>
                <a:spcPct val="150000"/>
              </a:lnSpc>
              <a:buNone/>
            </a:pPr>
            <a:endParaRPr lang="en-IN" sz="18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009817" y="967574831"/>
            <a:ext cx="6212838" cy="1922254099"/>
          </a:xfrm>
        </p:spPr>
        <p:txBody>
          <a:bodyPr>
            <a:normAutofit/>
          </a:bodyPr>
          <a:lstStyle/>
          <a:p>
            <a:pPr marL="114300" indent="0" algn="just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Risks</a:t>
            </a:r>
          </a:p>
          <a:p>
            <a:pPr marL="114300" indent="0" algn="just">
              <a:lnSpc>
                <a:spcPct val="15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E171566-F23C-FD56-990C-7C7586511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817" y="3038851"/>
            <a:ext cx="71821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EA3A24C-60F5-A5CA-66E9-2AA50536D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2972" y="942487"/>
            <a:ext cx="770282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RISKS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1E56D7-38F5-5A2B-18C3-5A0338908276}"/>
              </a:ext>
            </a:extLst>
          </p:cNvPr>
          <p:cNvSpPr txBox="1"/>
          <p:nvPr/>
        </p:nvSpPr>
        <p:spPr>
          <a:xfrm>
            <a:off x="1068689" y="1823133"/>
            <a:ext cx="6858000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collecting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honest and unbiased student feedback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Handling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and inconsistent data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datasets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Ensuring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machine learning models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Data privacy issues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while managing student information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Risk of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wrong decisions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due to incorrect analysis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E59681-453E-437B-CADC-88373DB48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675" y="1445621"/>
            <a:ext cx="4962525" cy="46351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C7E95C-667F-898E-51DE-875475BFE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795" y="1445622"/>
            <a:ext cx="4684532" cy="46351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6D8D8C-5CD0-3556-775C-52EFB3C4F130}"/>
              </a:ext>
            </a:extLst>
          </p:cNvPr>
          <p:cNvSpPr txBox="1"/>
          <p:nvPr/>
        </p:nvSpPr>
        <p:spPr>
          <a:xfrm>
            <a:off x="3283131" y="639505"/>
            <a:ext cx="8507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FEEDBACK COLLECTION USING FORMS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689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2935764" y="452466"/>
            <a:ext cx="4381408" cy="69956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464697" y="3592637"/>
            <a:ext cx="6852475" cy="478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BCAA3F-A6A5-9851-616E-C889C4B87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457" y="1323042"/>
            <a:ext cx="6184112" cy="4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follows a step-by-step process to analyze student feedback.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feedback is collected from students in the form of ratings.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the data is cleaned by removing missing and incorrect values.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that, important features are selected to understand student satisfaction.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 like Decision Tree and Random Forest are used to classify the feedback into different levels.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then tested to check its accuracy.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the results are shown using simple charts like bar graphs and pie charts for easy understanding.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sz="2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9B603B-8A53-E8B8-15C1-5A84711F5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470" y="452466"/>
            <a:ext cx="4292832" cy="60775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23360" y="665018"/>
            <a:ext cx="616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4A2EF-B4DA-5D97-2BF0-E49AD9B0562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02262" y="1468821"/>
            <a:ext cx="572439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gives feedback through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collects and stores feedback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cleaned and preprocessed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Feedback is analyzed using ML algorithms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classifies satisfaction levels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views reports and results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provides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reports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charts and graphs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in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improving teaching quality and decision making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B91B17-26A1-392E-0DBB-1A99190A59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43208" y="1681946"/>
            <a:ext cx="5373379" cy="35822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42592" y="908994"/>
            <a:ext cx="3888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 l="26903" r="26903"/>
          <a:stretch/>
        </p:blipFill>
        <p:spPr bwMode="auto">
          <a:xfrm>
            <a:off x="7271657" y="286196"/>
            <a:ext cx="4355393" cy="6285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5F846174-DBCE-7AA4-6228-8E8EAE413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950" y="1417226"/>
            <a:ext cx="7271657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process starts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giving feedback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collects the feedback data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checked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Cleaned data is sent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satisfaction levels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1854" y="853728"/>
            <a:ext cx="11048292" cy="5470872"/>
          </a:xfrm>
        </p:spPr>
        <p:txBody>
          <a:bodyPr>
            <a:noAutofit/>
          </a:bodyPr>
          <a:lstStyle/>
          <a:p>
            <a:pPr marL="114300" indent="0" algn="ctr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REQUIREMENTS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/ Linux / MacOS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(Version 3.x)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Libraries: Pandas, NumPy, Matplotlib, Scikit-learn, Seaborn (optional)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Colab </a:t>
            </a:r>
          </a:p>
          <a:p>
            <a:pPr lvl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i3 or higher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4 GB (more than 4GB)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10 GB free space</a:t>
            </a:r>
          </a:p>
          <a:p>
            <a:pPr marL="11430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50000"/>
              </a:lnSpc>
              <a:buNone/>
            </a:pP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907684" y="258360"/>
            <a:ext cx="2788516" cy="783484"/>
          </a:xfrm>
        </p:spPr>
        <p:txBody>
          <a:bodyPr/>
          <a:lstStyle/>
          <a:p>
            <a:pPr marL="11430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RESULT </a:t>
            </a:r>
          </a:p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l="510" t="-242" r="5538" b="242"/>
          <a:stretch>
            <a:fillRect/>
          </a:stretch>
        </p:blipFill>
        <p:spPr>
          <a:xfrm>
            <a:off x="237562" y="1380901"/>
            <a:ext cx="5724682" cy="45048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E8A41D-BBEE-D22E-795C-062F16E04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758" y="1380901"/>
            <a:ext cx="5195888" cy="44190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07572" y="875907"/>
            <a:ext cx="11102482" cy="4889167"/>
          </a:xfrm>
        </p:spPr>
        <p:txBody>
          <a:bodyPr>
            <a:noAutofit/>
          </a:bodyPr>
          <a:lstStyle/>
          <a:p>
            <a:pPr marL="114300" indent="0" algn="ctr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114300" indent="0" algn="ctr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the effective application of data mining techniques to analyze student feedback systematically. By using Python-based tools and classification algorithms, large volumes of feedback data can be processed efficiently and objectively.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automated analysis provides deeper insights into student satisfaction patterns, highlights areas needing improvement, and enables institutions to make informed academic decisions.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Ultimately, this approach enhances teaching effectiveness, promotes continuous quality improvement, and contributes to a better educational experience for students.</a:t>
            </a:r>
          </a:p>
          <a:p>
            <a:pPr algn="just">
              <a:lnSpc>
                <a:spcPct val="150000"/>
              </a:lnSpc>
            </a:pPr>
            <a:endParaRPr lang="en-IN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1663337" y="2366091"/>
            <a:ext cx="8252281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cap="none" dirty="0">
                <a:solidFill>
                  <a:srgbClr val="1E4E79"/>
                </a:solidFill>
                <a:latin typeface="Times New Roman" panose="02020603050405020304" pitchFamily="18" charset="0"/>
                <a:ea typeface="Libre Franklin Black"/>
                <a:cs typeface="Times New Roman" panose="02020603050405020304" pitchFamily="18" charset="0"/>
                <a:sym typeface="Libre Franklin Black"/>
              </a:rPr>
              <a:t>THANK</a:t>
            </a:r>
            <a:r>
              <a:rPr lang="en-US" sz="8800" b="1" cap="none" dirty="0">
                <a:solidFill>
                  <a:srgbClr val="1E4E79"/>
                </a:solidFill>
                <a:latin typeface="Libre Franklin Black"/>
                <a:ea typeface="Libre Franklin Black"/>
                <a:cs typeface="Libre Franklin Black"/>
                <a:sym typeface="Libre Franklin Black"/>
              </a:rPr>
              <a:t> </a:t>
            </a:r>
            <a:r>
              <a:rPr lang="en-US" sz="8800" b="1" cap="none" dirty="0">
                <a:solidFill>
                  <a:srgbClr val="1E4E79"/>
                </a:solidFill>
                <a:latin typeface="Times New Roman" panose="02020603050405020304" pitchFamily="18" charset="0"/>
                <a:ea typeface="Libre Franklin Black"/>
                <a:cs typeface="Times New Roman" panose="02020603050405020304" pitchFamily="18" charset="0"/>
                <a:sym typeface="Libre Franklin Black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971</Words>
  <Application>Microsoft Office PowerPoint</Application>
  <PresentationFormat>Widescreen</PresentationFormat>
  <Paragraphs>140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Times New Roman</vt:lpstr>
      <vt:lpstr>Calibri</vt:lpstr>
      <vt:lpstr>Libre Franklin Black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Always Cherry</dc:creator>
  <cp:lastModifiedBy>Aatlapavani07@outlook.com</cp:lastModifiedBy>
  <cp:revision>35</cp:revision>
  <dcterms:created xsi:type="dcterms:W3CDTF">2019-12-14T03:50:00Z</dcterms:created>
  <dcterms:modified xsi:type="dcterms:W3CDTF">2026-03-25T07:05:03Z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4F6C857659924927AEF5B7D5ED9EDCDE_12</vt:lpwstr>
  </property>
  <property fmtid="{D5CDD505-2E9C-101B-9397-08002B2CF9AE}" pid="3" name="KSOProductBuildVer">
    <vt:lpwstr>2057-12.2.0.23197</vt:lpwstr>
  </property>
</Properties>
</file>